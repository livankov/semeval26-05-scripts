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9925050" cy="66659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4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  <p:ext uri="GoogleSlidesCustomDataVersion2">
      <go:slidesCustomData xmlns:go="http://customooxmlschemas.google.com/" r:id="rId15" roundtripDataSignature="AMtx7mj8bmUZfzEgfV4lyA3lTiHWL3PT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4" orient="horz"/>
        <p:guide pos="2880"/>
        <p:guide pos="162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00" orient="horz"/>
        <p:guide pos="312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21901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/>
          <p:nvPr>
            <p:ph idx="2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5738715de_0_11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a5738715de_0_11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g3a5738715de_0_11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972b4e249_0_23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972b4e249_0_23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972b4e249_0_23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72b4e249_0_4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972b4e249_0_4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a972b4e249_0_4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6d97710e_0_7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6d97710e_0_7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96d97710e_0_7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99d52898a_2_12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99d52898a_2_12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99d52898a_2_12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9d52898a_2_19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9d52898a_2_19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a99d52898a_2_19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9d52898a_2_0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9d52898a_2_0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99d52898a_2_0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rt">
  <p:cSld name="1_Star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M_Glockenturm.tif" id="15" name="Google Shape;1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9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">
  <p:cSld name="Star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2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" name="Google Shape;11;p28"/>
          <p:cNvSpPr txBox="1"/>
          <p:nvPr>
            <p:ph idx="11" type="ftr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20150416 tum logo blau png final.png" id="12" name="Google Shape;12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8"/>
          <p:cNvSpPr txBox="1"/>
          <p:nvPr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Chair of High-Power Converter Systems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TUM School of Engineering and Design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>
            <p:ph type="title"/>
          </p:nvPr>
        </p:nvSpPr>
        <p:spPr>
          <a:xfrm>
            <a:off x="243015" y="1133600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Benchmarking Large-Language-Model performance for Word-Sense disambiguation</a:t>
            </a:r>
            <a:endParaRPr/>
          </a:p>
        </p:txBody>
      </p:sp>
      <p:sp>
        <p:nvSpPr>
          <p:cNvPr id="30" name="Google Shape;30;p1"/>
          <p:cNvSpPr txBox="1"/>
          <p:nvPr>
            <p:ph idx="1" type="body"/>
          </p:nvPr>
        </p:nvSpPr>
        <p:spPr>
          <a:xfrm>
            <a:off x="243013" y="4187990"/>
            <a:ext cx="85089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25.11.2025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>
            <p:ph type="title"/>
          </p:nvPr>
        </p:nvSpPr>
        <p:spPr>
          <a:xfrm>
            <a:off x="317490" y="849900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Recap/Methodology</a:t>
            </a:r>
            <a:endParaRPr/>
          </a:p>
        </p:txBody>
      </p:sp>
      <p:sp>
        <p:nvSpPr>
          <p:cNvPr id="36" name="Google Shape;36;p3"/>
          <p:cNvSpPr txBox="1"/>
          <p:nvPr>
            <p:ph idx="1" type="body"/>
          </p:nvPr>
        </p:nvSpPr>
        <p:spPr>
          <a:xfrm>
            <a:off x="317500" y="1369100"/>
            <a:ext cx="4093200" cy="3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>
                <a:solidFill>
                  <a:schemeClr val="dk1"/>
                </a:solidFill>
              </a:rPr>
              <a:t>Restructure data for low-hallucination/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de-DE" sz="1300"/>
              <a:t>Minifying the json results in a hallucinations/unwanted artifacts</a:t>
            </a:r>
            <a:endParaRPr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>
                <a:solidFill>
                  <a:schemeClr val="dk1"/>
                </a:solidFill>
              </a:rPr>
              <a:t>Ingest every json entry one-by-one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>
                <a:solidFill>
                  <a:schemeClr val="dk1"/>
                </a:solidFill>
              </a:rPr>
              <a:t>Use the training dataset (3000 entries ) in order to further optimize performance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de-DE">
                <a:solidFill>
                  <a:schemeClr val="dk1"/>
                </a:solidFill>
              </a:rPr>
              <a:t>Test different models and approaches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de-DE" sz="1300">
                <a:solidFill>
                  <a:schemeClr val="dk1"/>
                </a:solidFill>
              </a:rPr>
              <a:t>LLMs (prompt engineering, data manipulation)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LLMs (fine-tuning)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Classification models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" name="Google Shape;37;p3" title="Screenshot from 2025-11-25 11-52-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9575" y="454800"/>
            <a:ext cx="3979749" cy="13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 title="Screenshot from 2025-11-25 12-05-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575" y="2176699"/>
            <a:ext cx="3979751" cy="44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 title="Screenshot from 2025-11-25 12-07-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9575" y="3055238"/>
            <a:ext cx="3979750" cy="8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 title="Screenshot from 2025-11-25 12-07-5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9575" y="4335337"/>
            <a:ext cx="3979750" cy="37066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 rot="5400000">
            <a:off x="6017450" y="1879675"/>
            <a:ext cx="2796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 rot="5400000">
            <a:off x="6017450" y="2745925"/>
            <a:ext cx="2796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 rot="5400000">
            <a:off x="6017450" y="4026000"/>
            <a:ext cx="2796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5738715de_0_11"/>
          <p:cNvSpPr txBox="1"/>
          <p:nvPr>
            <p:ph type="title"/>
          </p:nvPr>
        </p:nvSpPr>
        <p:spPr>
          <a:xfrm>
            <a:off x="319090" y="934550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Benchmarks/Observations(1)</a:t>
            </a:r>
            <a:endParaRPr/>
          </a:p>
        </p:txBody>
      </p:sp>
      <p:sp>
        <p:nvSpPr>
          <p:cNvPr id="50" name="Google Shape;50;g3a5738715de_0_11"/>
          <p:cNvSpPr txBox="1"/>
          <p:nvPr>
            <p:ph idx="1" type="body"/>
          </p:nvPr>
        </p:nvSpPr>
        <p:spPr>
          <a:xfrm>
            <a:off x="319100" y="1484050"/>
            <a:ext cx="4170600" cy="3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OpenAI’s model shows alignment with data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Models vary greatly 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Each one has obvious weaknesses</a:t>
            </a:r>
            <a:endParaRPr sz="13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Hallucination rate can be rather high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Sample rate is too low for evaluating prompt efficacy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Deviation from the dataset doesn’t imply that the model is bad at WSD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Human data is very polluted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-DE" sz="1300"/>
              <a:t>Models tend to rate very confidently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/>
              <a:t> </a:t>
            </a:r>
            <a:endParaRPr sz="1400"/>
          </a:p>
        </p:txBody>
      </p:sp>
      <p:sp>
        <p:nvSpPr>
          <p:cNvPr id="51" name="Google Shape;51;g3a5738715de_0_11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52" name="Google Shape;52;g3a5738715de_0_11" title="Figure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700" y="722600"/>
            <a:ext cx="4314425" cy="25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g3a5738715de_0_11" title="Screenshot from 2025-11-25 01-26-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0850" y="3403463"/>
            <a:ext cx="1762050" cy="9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a5738715de_0_11"/>
          <p:cNvSpPr txBox="1"/>
          <p:nvPr/>
        </p:nvSpPr>
        <p:spPr>
          <a:xfrm>
            <a:off x="5833525" y="4470888"/>
            <a:ext cx="179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/>
              <a:t>An example of a hallucination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972b4e249_0_23"/>
          <p:cNvSpPr txBox="1"/>
          <p:nvPr>
            <p:ph type="title"/>
          </p:nvPr>
        </p:nvSpPr>
        <p:spPr>
          <a:xfrm>
            <a:off x="317540" y="770875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Benchmarks/Observations(2)</a:t>
            </a:r>
            <a:endParaRPr/>
          </a:p>
        </p:txBody>
      </p:sp>
      <p:sp>
        <p:nvSpPr>
          <p:cNvPr id="61" name="Google Shape;61;g3a972b4e249_0_23"/>
          <p:cNvSpPr txBox="1"/>
          <p:nvPr>
            <p:ph idx="1" type="body"/>
          </p:nvPr>
        </p:nvSpPr>
        <p:spPr>
          <a:xfrm>
            <a:off x="496909" y="1147075"/>
            <a:ext cx="7745400" cy="753000"/>
          </a:xfrm>
          <a:prstGeom prst="rect">
            <a:avLst/>
          </a:prstGeom>
        </p:spPr>
        <p:txBody>
          <a:bodyPr anchorCtr="0" anchor="t" bIns="72050" lIns="72050" spcFirstLastPara="1" rIns="72050" wrap="square" tIns="7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3"/>
          </a:p>
        </p:txBody>
      </p:sp>
      <p:sp>
        <p:nvSpPr>
          <p:cNvPr id="62" name="Google Shape;62;g3a972b4e249_0_23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63" name="Google Shape;63;g3a972b4e249_0_23" title="Figure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50" y="1394105"/>
            <a:ext cx="2687213" cy="174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3a972b4e249_0_23" title="Figure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642" y="1394097"/>
            <a:ext cx="2687218" cy="1745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g3a972b4e249_0_23" title="Figure_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1061" y="1394095"/>
            <a:ext cx="2687213" cy="174510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972b4e249_0_23"/>
          <p:cNvSpPr txBox="1"/>
          <p:nvPr/>
        </p:nvSpPr>
        <p:spPr>
          <a:xfrm>
            <a:off x="539930" y="3093900"/>
            <a:ext cx="2184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50" lIns="72050" spcFirstLastPara="1" rIns="72050" wrap="square" tIns="7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3"/>
              <a:t>Meta-Llama-3.1-8B-Instruct</a:t>
            </a:r>
            <a:endParaRPr sz="1103"/>
          </a:p>
        </p:txBody>
      </p:sp>
      <p:sp>
        <p:nvSpPr>
          <p:cNvPr id="67" name="Google Shape;67;g3a972b4e249_0_23"/>
          <p:cNvSpPr txBox="1"/>
          <p:nvPr/>
        </p:nvSpPr>
        <p:spPr>
          <a:xfrm>
            <a:off x="3514841" y="3093900"/>
            <a:ext cx="2124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50" lIns="72050" spcFirstLastPara="1" rIns="72050" wrap="square" tIns="7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3"/>
              <a:t>Qwen3-VL-8B-Instruct</a:t>
            </a:r>
            <a:endParaRPr sz="1103"/>
          </a:p>
        </p:txBody>
      </p:sp>
      <p:sp>
        <p:nvSpPr>
          <p:cNvPr id="68" name="Google Shape;68;g3a972b4e249_0_23"/>
          <p:cNvSpPr txBox="1"/>
          <p:nvPr/>
        </p:nvSpPr>
        <p:spPr>
          <a:xfrm>
            <a:off x="6337100" y="3093900"/>
            <a:ext cx="2058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50" lIns="72050" spcFirstLastPara="1" rIns="72050" wrap="square" tIns="7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3"/>
              <a:t>openai/gpt-oss-20b</a:t>
            </a:r>
            <a:endParaRPr sz="1103"/>
          </a:p>
        </p:txBody>
      </p:sp>
      <p:pic>
        <p:nvPicPr>
          <p:cNvPr id="69" name="Google Shape;69;g3a972b4e249_0_23" title="Figure_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5650" y="3337500"/>
            <a:ext cx="2687200" cy="1745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a972b4e249_0_23"/>
          <p:cNvSpPr txBox="1"/>
          <p:nvPr/>
        </p:nvSpPr>
        <p:spPr>
          <a:xfrm>
            <a:off x="5839450" y="3973038"/>
            <a:ext cx="30675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/>
              <a:t>Sample data (Human generated)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72b4e249_0_4"/>
          <p:cNvSpPr txBox="1"/>
          <p:nvPr>
            <p:ph type="title"/>
          </p:nvPr>
        </p:nvSpPr>
        <p:spPr>
          <a:xfrm>
            <a:off x="317540" y="9508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Benchmarks/Observations(3)</a:t>
            </a:r>
            <a:endParaRPr/>
          </a:p>
        </p:txBody>
      </p:sp>
      <p:sp>
        <p:nvSpPr>
          <p:cNvPr id="77" name="Google Shape;77;g3a972b4e249_0_4"/>
          <p:cNvSpPr txBox="1"/>
          <p:nvPr>
            <p:ph idx="1" type="body"/>
          </p:nvPr>
        </p:nvSpPr>
        <p:spPr>
          <a:xfrm>
            <a:off x="319100" y="1484050"/>
            <a:ext cx="3509700" cy="30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Lower hallucination rate comes at a cost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Cost can be prohibitive for testing more advanced models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Slow inference reduces sample size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Consistency of the output plays the biggest role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Qwen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Gpt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de-DE" sz="1300"/>
              <a:t>LLama</a:t>
            </a:r>
            <a:endParaRPr sz="1300"/>
          </a:p>
        </p:txBody>
      </p:sp>
      <p:sp>
        <p:nvSpPr>
          <p:cNvPr id="78" name="Google Shape;78;g3a972b4e249_0_4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79" name="Google Shape;79;g3a972b4e249_0_4" title="Figure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826" y="2762298"/>
            <a:ext cx="2321928" cy="174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a972b4e249_0_4" title="Figure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9200" y="2762321"/>
            <a:ext cx="2321925" cy="1741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a972b4e249_0_4" title="Screenshot from 2025-11-25 10-55-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7775" y="1298250"/>
            <a:ext cx="5070875" cy="10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6d97710e_0_7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Further improvements</a:t>
            </a:r>
            <a:endParaRPr/>
          </a:p>
        </p:txBody>
      </p:sp>
      <p:sp>
        <p:nvSpPr>
          <p:cNvPr id="88" name="Google Shape;88;g3a96d97710e_0_7"/>
          <p:cNvSpPr txBox="1"/>
          <p:nvPr>
            <p:ph idx="1" type="body"/>
          </p:nvPr>
        </p:nvSpPr>
        <p:spPr>
          <a:xfrm>
            <a:off x="319088" y="1484040"/>
            <a:ext cx="8508900" cy="9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de-DE"/>
              <a:t>Fine-tuning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96d97710e_0_7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9d52898a_2_12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Fine-Tuning only approach</a:t>
            </a:r>
            <a:endParaRPr/>
          </a:p>
        </p:txBody>
      </p:sp>
      <p:sp>
        <p:nvSpPr>
          <p:cNvPr id="96" name="Google Shape;96;g3a99d52898a_2_12"/>
          <p:cNvSpPr txBox="1"/>
          <p:nvPr>
            <p:ph idx="1" type="body"/>
          </p:nvPr>
        </p:nvSpPr>
        <p:spPr>
          <a:xfrm>
            <a:off x="317550" y="1765805"/>
            <a:ext cx="8508900" cy="3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/>
              <a:t>Method</a:t>
            </a:r>
            <a:r>
              <a:rPr lang="de-DE"/>
              <a:t>: Take a pre-trained model (e.g., BERT, RoBERTa) and update all its parameters on the WSD task using the 1-5 plausibility scores.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/>
              <a:t>Pros</a:t>
            </a:r>
            <a:r>
              <a:rPr lang="de-DE"/>
              <a:t>: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-DE"/>
              <a:t>The entire model specializes in the task.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-DE"/>
              <a:t>Can achieve peak performance by adapting all knowledge.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/>
              <a:t>Cons</a:t>
            </a:r>
            <a:r>
              <a:rPr lang="de-DE"/>
              <a:t>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-DE"/>
              <a:t>Computationally expensive (GPU required).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-DE"/>
              <a:t>High risk of overfitting on small datasets.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de-DE"/>
              <a:t>Can suffer from "catastrophic forgetting."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99d52898a_2_12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99d52898a_2_19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Further improvements</a:t>
            </a:r>
            <a:endParaRPr/>
          </a:p>
        </p:txBody>
      </p:sp>
      <p:sp>
        <p:nvSpPr>
          <p:cNvPr id="104" name="Google Shape;104;g3a99d52898a_2_19"/>
          <p:cNvSpPr txBox="1"/>
          <p:nvPr>
            <p:ph idx="1" type="body"/>
          </p:nvPr>
        </p:nvSpPr>
        <p:spPr>
          <a:xfrm>
            <a:off x="319088" y="1484040"/>
            <a:ext cx="8508900" cy="9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Fine-tuning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de-DE"/>
              <a:t>Regression +/- Fine-tuning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a99d52898a_2_19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9d52898a_2_0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Types of Regression Approaches for WSD</a:t>
            </a:r>
            <a:endParaRPr/>
          </a:p>
        </p:txBody>
      </p:sp>
      <p:sp>
        <p:nvSpPr>
          <p:cNvPr id="112" name="Google Shape;112;g3a99d52898a_2_0"/>
          <p:cNvSpPr txBox="1"/>
          <p:nvPr>
            <p:ph idx="1" type="body"/>
          </p:nvPr>
        </p:nvSpPr>
        <p:spPr>
          <a:xfrm>
            <a:off x="319100" y="1484039"/>
            <a:ext cx="8508900" cy="40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 u="sng"/>
              <a:t>Linear / Tree-Based Regression</a:t>
            </a:r>
            <a:endParaRPr sz="1500" u="sng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 sz="1400"/>
              <a:t>Method</a:t>
            </a:r>
            <a:r>
              <a:rPr lang="de-DE" sz="1400"/>
              <a:t>: Use sentence embeddings as features for models like Linear Regression, Random Forest, or XGBoost.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 sz="1400"/>
              <a:t>Pros</a:t>
            </a:r>
            <a:r>
              <a:rPr lang="de-DE" sz="1400"/>
              <a:t>: Fast, interpretable, no GPU needed. Perfect for a strong baseline.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 sz="1400"/>
              <a:t>Cons</a:t>
            </a:r>
            <a:r>
              <a:rPr lang="de-DE" sz="1400"/>
              <a:t>: Limited ability to capture complex semantic nuances.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1"/>
                </a:solidFill>
              </a:rPr>
              <a:t>→ </a:t>
            </a:r>
            <a:r>
              <a:rPr lang="de-DE"/>
              <a:t>For a quick sanity check and to establish a performance lower bound.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2.	</a:t>
            </a:r>
            <a:r>
              <a:rPr lang="de-DE" sz="1500" u="sng"/>
              <a:t>Fine-Tuned LLM Regression Head</a:t>
            </a:r>
            <a:endParaRPr sz="1500" u="sng"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/>
              <a:t>Method</a:t>
            </a:r>
            <a:r>
              <a:rPr lang="de-DE"/>
              <a:t>: Use a pre-trained LLM (e.g., LLaMA, Qwen) to generate embeddings, then fine-tune a small regression head on top.</a:t>
            </a:r>
            <a:endParaRPr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/>
              <a:t>Pros</a:t>
            </a:r>
            <a:r>
              <a:rPr lang="de-DE"/>
              <a:t>: Leverages deep semantic knowledge from the LLM. Best for capturing subtlety and context. Highest potential accuracy.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de-DE"/>
              <a:t>Cons</a:t>
            </a:r>
            <a:r>
              <a:rPr lang="de-DE"/>
              <a:t>: Requires GPU; risk of overfitting on small datasets.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99d52898a_2_0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2020-10-03T23:03:33Z</dcterms:created>
  <dc:creator>Wei Tian</dc:creator>
</cp:coreProperties>
</file>